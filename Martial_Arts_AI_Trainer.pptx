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0" y="1097280"/>
            <a:ext cx="3383280" cy="457200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0" y="111556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D4FF"/>
                </a:solidFill>
                <a:latin typeface="Calibri"/>
              </a:rPr>
              <a:t>🥋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0F0F5"/>
                </a:solidFill>
                <a:latin typeface="Calibri"/>
              </a:rPr>
              <a:t>Martial Arts </a:t>
            </a:r>
            <a:r>
              <a:rPr sz="5400" b="1">
                <a:solidFill>
                  <a:srgbClr val="00D4FF"/>
                </a:solidFill>
                <a:latin typeface="Calibri"/>
              </a:rPr>
              <a:t>AI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47472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9999AA"/>
                </a:solidFill>
                <a:latin typeface="Calibri"/>
              </a:rPr>
              <a:t>A real-time web application that classifies karate moves
and provides instant corrective feedback using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9999AA"/>
                </a:solidFill>
                <a:latin typeface="Calibri"/>
              </a:rPr>
              <a:t>📅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029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9999AA"/>
                </a:solidFill>
                <a:latin typeface="Calibri"/>
              </a:rPr>
              <a:t>🥋  Kyokushin Karate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029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9999AA"/>
                </a:solidFill>
                <a:latin typeface="Calibri"/>
              </a:rPr>
              <a:t>🤖  AI-Powered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029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9999AA"/>
                </a:solidFill>
                <a:latin typeface="Calibri"/>
              </a:rPr>
              <a:t>🦴  MediaPipe + LSTM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🎯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Why martial arts students need AI assistance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🤕  Injury Risk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Incorrect technique during solo practice can cause joint injuries, muscle strains, and bad habits that are hard to unlearn.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855F7"/>
                </a:solidFill>
                <a:latin typeface="Calibri"/>
              </a:rPr>
              <a:t>👨‍🏫  Limited Coach Access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Not every student has access to a qualified coach for every training session. Remote learners are especially underserved.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/>
              </a:rPr>
              <a:t>📈  No Progress Tracking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Students have no objective way to measure improvement over time or identify their weakest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💡 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Turn any webcam into an AI karate coach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56032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0F0F5"/>
                </a:solidFill>
                <a:latin typeface="Calibri"/>
              </a:rPr>
              <a:t>📷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F0F0F5"/>
                </a:solidFill>
                <a:latin typeface="Calibri"/>
              </a:rPr>
              <a:t>Webcam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User's camera feed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2004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286000"/>
            <a:ext cx="256032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46888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0F0F5"/>
                </a:solidFill>
                <a:latin typeface="Calibri"/>
              </a:rPr>
              <a:t>🦴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F0F0F5"/>
                </a:solidFill>
                <a:latin typeface="Calibri"/>
              </a:rPr>
              <a:t>Pose Detection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MediaPipe: 33 landmarks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2004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256032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46888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0F0F5"/>
                </a:solidFill>
                <a:latin typeface="Calibri"/>
              </a:rPr>
              <a:t>🧠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F0F0F5"/>
                </a:solidFill>
                <a:latin typeface="Calibri"/>
              </a:rPr>
              <a:t>AI Classification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LSTM identifies the move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32004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286000"/>
            <a:ext cx="256032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46888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0F0F5"/>
                </a:solidFill>
                <a:latin typeface="Calibri"/>
              </a:rPr>
              <a:t>✅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F0F0F5"/>
                </a:solidFill>
                <a:latin typeface="Calibri"/>
              </a:rPr>
              <a:t>Correction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Real-time form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🏗️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How the components connect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389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/>
              </a:rPr>
              <a:t>🖥️  Frontend (Browser)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Next.js 14 — React framework with SSR &amp; routing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MediaPipe Pose — in-browser pose estimation (33 landmarks)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WebSocket Client — sends landmarks to backend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Chart.js — training progress visualization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CSS Dark Theme — glassmorphism design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4389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1945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855F7"/>
                </a:solidFill>
                <a:latin typeface="Calibri"/>
              </a:rPr>
              <a:t>⚙️  Backend (Server)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FastAPI — Python async web framework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PostgreSQL — user profiles &amp; session history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JWT Authentication — secure stateless auth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LSTM Model — real-time move classification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Correction Engine — rule-based form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657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0">
                <a:solidFill>
                  <a:srgbClr val="22C55E"/>
                </a:solidFill>
                <a:latin typeface="Calibri"/>
              </a:rPr>
              <a:t>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41148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999AA"/>
                </a:solidFill>
                <a:latin typeface="Calibri"/>
              </a:rPr>
              <a:t>WebSocket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🖥️  Frontend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What we use in the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/>
              </a:rPr>
              <a:t>⚡ Next.js 14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React framework with server-side rendering, file-based routing, and built-in optimization.
[UI Framework]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02920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🦴 MediaPipe Pose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Google's BlazePose runs in-browser. Detects 33 body landmarks in real time. No video leaves the device.
[Pose Estimation]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502920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634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📊 Chart.js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Lightweight charting library. Line charts for progress, radar charts for per-move accuracy breakdown.
[Visualization]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80560"/>
            <a:ext cx="502920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6634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855F7"/>
                </a:solidFill>
                <a:latin typeface="Calibri"/>
              </a:rPr>
              <a:t>🔌 WebSocket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Bidirectional real-time connection. Sends pose data (~1KB/frame) and receives classification instantly.
[Real-Time]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🦴  MediaPipe Pose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Google's BlazePose model detects 33 3D landmarks in real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389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Calibri"/>
              </a:rPr>
              <a:t>33 Body Landmarks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600" b="0">
                <a:solidFill>
                  <a:srgbClr val="9999AA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  ID 11-12       Shoulders      →  Guard position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  ID 13-14       Elbows         →  Punch angle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  ID 15-16       Wrists         →  Fist position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  ID 23-24       Hips           →  Rotation, stance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  ID 25-26       Knees          →  Kick height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  ID 27-28       Ankles         →  Kick extension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4389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1945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Why MediaPipe?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In-browser — no server GPU needed for pose detection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Privacy — video never leaves the user's device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30+ FPS — fast enough for real-time martial arts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3D coordinates — x, y, z per landmark + visibility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Free &amp; open source — by Google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Works on mobile and desktop browsers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⚙️  Backend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Server-side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🚀 FastAPI (Python)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Modern async web framework. Auto-generates Swagger docs. Native WebSocket support for real-time streaming.
[Web Framework]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02920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/>
              </a:rPr>
              <a:t>🗄️ PostgreSQL + SQLAlchemy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Production-grade relational DB. SQLAlchemy ORM for Pythonic operations. Alembic for schema migrations.
[Database]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502920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634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🔐 JWT Authentication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Stateless JSON Web Tokens. Passwords hashed with bcrypt. Tokens carry user ID + expiry, signed with secret.
[Security]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80560"/>
            <a:ext cx="502920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6634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4899"/>
                </a:solidFill>
                <a:latin typeface="Calibri"/>
              </a:rPr>
              <a:t>🔗 REST + WebSocket API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REST for auth, profiles, history. WebSocket for real-time pose streaming. Clean router/service architecture.
[API Layer]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📦  Dataset — Kyokushin Karate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Multimodal dataset from Springer Nature Figshare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13716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560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D4FF"/>
                </a:solidFill>
                <a:latin typeface="Calibri"/>
              </a:rPr>
              <a:t>37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9999AA"/>
                </a:solidFill>
                <a:latin typeface="Calibri"/>
              </a:rPr>
              <a:t>Athletes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011680"/>
            <a:ext cx="2560320" cy="13716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103120"/>
            <a:ext cx="2560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6B35"/>
                </a:solidFill>
                <a:latin typeface="Calibri"/>
              </a:rPr>
              <a:t>4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9999AA"/>
                </a:solidFill>
                <a:latin typeface="Calibri"/>
              </a:rPr>
              <a:t>Moves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2560320" cy="13716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2560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A855F7"/>
                </a:solidFill>
                <a:latin typeface="Calibri"/>
              </a:rPr>
              <a:t>9.19 GB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9999AA"/>
                </a:solidFill>
                <a:latin typeface="Calibri"/>
              </a:rPr>
              <a:t>Total 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011680"/>
            <a:ext cx="2560320" cy="13716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2103120"/>
            <a:ext cx="2560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2C55E"/>
                </a:solidFill>
                <a:latin typeface="Calibri"/>
              </a:rPr>
              <a:t>.c3d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9999AA"/>
                </a:solidFill>
                <a:latin typeface="Calibri"/>
              </a:rPr>
              <a:t>MoCap Format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2560320" cy="25603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F0F5"/>
                </a:solidFill>
                <a:latin typeface="Calibri"/>
              </a:rPr>
              <a:t>👊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F0F0F5"/>
                </a:solidFill>
                <a:latin typeface="Calibri"/>
              </a:rPr>
              <a:t>Reverse Lunge Punch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00D4FF"/>
                </a:solidFill>
                <a:latin typeface="Calibri"/>
              </a:rPr>
              <a:t>Gyaku-Zuki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9999AA"/>
                </a:solidFill>
                <a:latin typeface="Calibri"/>
              </a:rPr>
              <a:t>Power punch, hip rotation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840480"/>
            <a:ext cx="2560320" cy="25603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319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F0F5"/>
                </a:solidFill>
                <a:latin typeface="Calibri"/>
              </a:rPr>
              <a:t>🦵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F0F0F5"/>
                </a:solidFill>
                <a:latin typeface="Calibri"/>
              </a:rPr>
              <a:t>Front Kick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00D4FF"/>
                </a:solidFill>
                <a:latin typeface="Calibri"/>
              </a:rPr>
              <a:t>Mae Geri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9999AA"/>
                </a:solidFill>
                <a:latin typeface="Calibri"/>
              </a:rPr>
              <a:t>Straight snap kick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2560320" cy="25603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9319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F0F5"/>
                </a:solidFill>
                <a:latin typeface="Calibri"/>
              </a:rPr>
              <a:t>🌀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F0F0F5"/>
                </a:solidFill>
                <a:latin typeface="Calibri"/>
              </a:rPr>
              <a:t>Roundhouse Kick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00D4FF"/>
                </a:solidFill>
                <a:latin typeface="Calibri"/>
              </a:rPr>
              <a:t>Mawashi Geri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9999AA"/>
                </a:solidFill>
                <a:latin typeface="Calibri"/>
              </a:rPr>
              <a:t>Circular kick, hip rotation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3840480"/>
            <a:ext cx="2560320" cy="25603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39319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F0F5"/>
                </a:solidFill>
                <a:latin typeface="Calibri"/>
              </a:rPr>
              <a:t>🔄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F0F0F5"/>
                </a:solidFill>
                <a:latin typeface="Calibri"/>
              </a:rPr>
              <a:t>Spinning Back Kick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00D4FF"/>
                </a:solidFill>
                <a:latin typeface="Calibri"/>
              </a:rPr>
              <a:t>Ushiro Mawashi Geri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9999AA"/>
                </a:solidFill>
                <a:latin typeface="Calibri"/>
              </a:rPr>
              <a:t>Full spin into back kick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🔬  ML Pipeline — Data to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How we go from raw motion capture to a trained classifier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56032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0F0F5"/>
                </a:solidFill>
                <a:latin typeface="Calibri"/>
              </a:rPr>
              <a:t>📁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0F0F5"/>
                </a:solidFill>
                <a:latin typeface="Calibri"/>
              </a:rPr>
              <a:t>1. Parse C3D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9999AA"/>
                </a:solidFill>
                <a:latin typeface="Calibri"/>
              </a:rPr>
              <a:t>Extract 3D marker
positions per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7432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56032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0F0F5"/>
                </a:solidFill>
                <a:latin typeface="Calibri"/>
              </a:rPr>
              <a:t>📐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0F0F5"/>
                </a:solidFill>
                <a:latin typeface="Calibri"/>
              </a:rPr>
              <a:t>2. Extract Features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9999AA"/>
                </a:solidFill>
                <a:latin typeface="Calibri"/>
              </a:rPr>
              <a:t>Compute joint angles
&amp; distances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7432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256032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0F0F5"/>
                </a:solidFill>
                <a:latin typeface="Calibri"/>
              </a:rPr>
              <a:t>🪟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0F0F5"/>
                </a:solidFill>
                <a:latin typeface="Calibri"/>
              </a:rPr>
              <a:t>3. Build Sequences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9999AA"/>
                </a:solidFill>
                <a:latin typeface="Calibri"/>
              </a:rPr>
              <a:t>30-frame sliding
windows with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7432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011680"/>
            <a:ext cx="256032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1031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0F0F5"/>
                </a:solidFill>
                <a:latin typeface="Calibri"/>
              </a:rPr>
              <a:t>🧠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0F0F5"/>
                </a:solidFill>
                <a:latin typeface="Calibri"/>
              </a:rPr>
              <a:t>4. Train LSTM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9999AA"/>
                </a:solidFill>
                <a:latin typeface="Calibri"/>
              </a:rPr>
              <a:t>Classify 4 karate
moves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1069848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4899"/>
                </a:solidFill>
                <a:latin typeface="Calibri"/>
              </a:rPr>
              <a:t>Key Features Extracted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0F0F5"/>
                </a:solidFill>
                <a:latin typeface="Calibri"/>
              </a:rPr>
              <a:t>▸  Elbow Angles (L/R) — Shoulder→Elbow→Wrist — Punch detection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0F0F5"/>
                </a:solidFill>
                <a:latin typeface="Calibri"/>
              </a:rPr>
              <a:t>▸  Knee Angles (L/R) — Hip→Knee→Ankle — All kicks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0F0F5"/>
                </a:solidFill>
                <a:latin typeface="Calibri"/>
              </a:rPr>
              <a:t>▸  Hip Angles (L/R) — Shoulder→Hip→Knee — Kick height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0F0F5"/>
                </a:solidFill>
                <a:latin typeface="Calibri"/>
              </a:rPr>
              <a:t>▸  Hip Rotation — L-Hip→R-Hip transverse plane — Roundhouse, spinning kick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🧠  LSTM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Deep learning model for temporal move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  <a:latin typeface="Calibri"/>
              </a:rPr>
              <a:t>Input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03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999AA"/>
                </a:solidFill>
                <a:latin typeface="Calibri"/>
              </a:rPr>
              <a:t>(batch, 30, 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5146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999AA"/>
                </a:solidFill>
                <a:latin typeface="Calibr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0292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855F7"/>
                </a:solidFill>
                <a:latin typeface="Calibri"/>
              </a:rPr>
              <a:t>LSTM Layer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803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999AA"/>
                </a:solidFill>
                <a:latin typeface="Calibri"/>
              </a:rPr>
              <a:t>128 units, dropout 0.3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918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999AA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50292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855F7"/>
                </a:solidFill>
                <a:latin typeface="Calibri"/>
              </a:rPr>
              <a:t>LSTM Layer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6576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999AA"/>
                </a:solidFill>
                <a:latin typeface="Calibri"/>
              </a:rPr>
              <a:t>64 units, dropout 0.3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06908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999AA"/>
                </a:solidFill>
                <a:latin typeface="Calibr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50292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Calibri"/>
              </a:rPr>
              <a:t>Dense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4348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999AA"/>
                </a:solidFill>
                <a:latin typeface="Calibri"/>
              </a:rPr>
              <a:t>32 units, ReLU, dropout 0.2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8463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999AA"/>
                </a:solidFill>
                <a:latin typeface="Calibr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50292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Output (Softmax)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212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999AA"/>
                </a:solidFill>
                <a:latin typeface="Calibri"/>
              </a:rPr>
              <a:t>4 classes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011680"/>
            <a:ext cx="5029200" cy="22860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19456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Training Configuration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Optimizer: Adam, lr = 0.001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Loss: Categorical Crossentropy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Batch Size: 32  |  Epochs: 100 (early stopping)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Window: 30 frames (~1 sec)  |  12 features/frame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Data Split: 70% train / 15% val / 15%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572000"/>
            <a:ext cx="502920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7548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855F7"/>
                </a:solidFill>
                <a:latin typeface="Calibri"/>
              </a:rPr>
              <a:t>Why LSTM?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Captures temporal patterns — moves are sequences, not static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Handles variable speed across athletes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Proven track record in action recognition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🧪  Trial Version — Demo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Validating the full pipeline before training on the real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389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What the Trial Model Does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Generates synthetic data — simulates realistic joint angles for each of the 4 karate moves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Trains a Random Forest — fast, no GPU needed, instant results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Classifies in real time — takes MediaPipe landmarks from webcam, computes angles, predicts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Proves the full pipeline — webcam → MediaPipe → angles → classification → correction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Same API interface — swapping to the real LSTM model requires zero frontend/backend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4389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Trial → Full Model Comparison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600" b="0">
                <a:solidFill>
                  <a:srgbClr val="9999AA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/>
            </a:r>
            <a:r>
              <a:rPr sz="1300" b="1">
                <a:solidFill>
                  <a:srgbClr val="9999AA"/>
                </a:solidFill>
                <a:latin typeface="Calibri"/>
              </a:rPr>
              <a:t>  Data:     </a:t>
            </a:r>
            <a:r>
              <a:rPr sz="1300">
                <a:solidFill>
                  <a:srgbClr val="F0F0F5"/>
                </a:solidFill>
                <a:latin typeface="Calibri"/>
              </a:rPr>
              <a:t>  Synthetic             →  Real MoCap (.c3d)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/>
            </a:r>
            <a:r>
              <a:rPr sz="1300" b="1">
                <a:solidFill>
                  <a:srgbClr val="9999AA"/>
                </a:solidFill>
                <a:latin typeface="Calibri"/>
              </a:rPr>
              <a:t>  Model:    </a:t>
            </a:r>
            <a:r>
              <a:rPr sz="1300">
                <a:solidFill>
                  <a:srgbClr val="F0F0F5"/>
                </a:solidFill>
                <a:latin typeface="Calibri"/>
              </a:rPr>
              <a:t>  Random Forest         →  LSTM (TensorFlow)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/>
            </a:r>
            <a:r>
              <a:rPr sz="1300" b="1">
                <a:solidFill>
                  <a:srgbClr val="9999AA"/>
                </a:solidFill>
                <a:latin typeface="Calibri"/>
              </a:rPr>
              <a:t>  Input:    </a:t>
            </a:r>
            <a:r>
              <a:rPr sz="1300">
                <a:solidFill>
                  <a:srgbClr val="F0F0F5"/>
                </a:solidFill>
                <a:latin typeface="Calibri"/>
              </a:rPr>
              <a:t>  Single frame angles   →  30-frame sequences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/>
            </a:r>
            <a:r>
              <a:rPr sz="1300" b="1">
                <a:solidFill>
                  <a:srgbClr val="9999AA"/>
                </a:solidFill>
                <a:latin typeface="Calibri"/>
              </a:rPr>
              <a:t>  Accuracy: </a:t>
            </a:r>
            <a:r>
              <a:rPr sz="1300">
                <a:solidFill>
                  <a:srgbClr val="F0F0F5"/>
                </a:solidFill>
                <a:latin typeface="Calibri"/>
              </a:rPr>
              <a:t>  ~70-80%               →  ~90-95% expected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/>
            </a:r>
            <a:r>
              <a:rPr sz="1300" b="1">
                <a:solidFill>
                  <a:srgbClr val="9999AA"/>
                </a:solidFill>
                <a:latin typeface="Calibri"/>
              </a:rPr>
              <a:t>  GPU:      </a:t>
            </a:r>
            <a:r>
              <a:rPr sz="1300">
                <a:solidFill>
                  <a:srgbClr val="F0F0F5"/>
                </a:solidFill>
                <a:latin typeface="Calibri"/>
              </a:rPr>
              <a:t>  Not needed            →  Recommended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577840"/>
            <a:ext cx="5029200" cy="548640"/>
          </a:xfrm>
          <a:prstGeom prst="roundRect">
            <a:avLst/>
          </a:prstGeom>
          <a:solidFill>
            <a:srgbClr val="0A201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56235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✅  Same API — just swap the model file!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📝  Correction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Rule-based engine compares user angles to ideal 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389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How It Works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① AI classifies the move (e.g. 'Front Kick')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② System looks up ideal joint angles from the database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③ Compares user's angles vs ideal — if diff &gt; 15°, flag it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④ Shows correction text + highlights joint in red on skeleton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Severity levels: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  🟡 Info — minor adjustment needed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  🟠 Warning — significant form error (&gt;20° off)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4389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/>
              </a:rPr>
              <a:t>Example Corrections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400" b="0">
                <a:solidFill>
                  <a:srgbClr val="9999AA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FF6B35"/>
                </a:solidFill>
                <a:latin typeface="Calibri"/>
              </a:rPr>
              <a:t>🦵 Front Kick: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9999AA"/>
                </a:solidFill>
                <a:latin typeface="Calibri"/>
              </a:rPr>
              <a:t>"Raise your knee higher — aim for waist height before extending"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400" b="0">
                <a:solidFill>
                  <a:srgbClr val="9999AA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00D4FF"/>
                </a:solidFill>
                <a:latin typeface="Calibri"/>
              </a:rPr>
              <a:t>👊 Reverse Punch: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9999AA"/>
                </a:solidFill>
                <a:latin typeface="Calibri"/>
              </a:rPr>
              <a:t>"Rotate your hip more — power comes from hip rotation, not the arm"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400" b="0">
                <a:solidFill>
                  <a:srgbClr val="9999AA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🌀 Roundhouse Kick: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9999AA"/>
                </a:solidFill>
                <a:latin typeface="Calibri"/>
              </a:rPr>
              <a:t>"Turn your supporting foot outward — pivot on the ball of your foot"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400" b="0">
                <a:solidFill>
                  <a:srgbClr val="9999AA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🔄 Spinning Kick: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9999AA"/>
                </a:solidFill>
                <a:latin typeface="Calibri"/>
              </a:rPr>
              <a:t>"Keep your eyes on the target — spot your head first, then kick"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👤  User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What the application offers to each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  <a:latin typeface="Calibri"/>
              </a:rPr>
              <a:t>🔐  Authentication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Register &amp; login with email.
JWT secure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11680"/>
            <a:ext cx="338328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21488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  <a:latin typeface="Calibri"/>
              </a:rPr>
              <a:t>🏋️  Live Training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Webcam-powered real-time AI.
Instant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9" y="2011680"/>
            <a:ext cx="338328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9" y="21488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855F7"/>
                </a:solidFill>
                <a:latin typeface="Calibri"/>
              </a:rPr>
              <a:t>📊  Dashboard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Track history &amp; progress.
Charts per move 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338328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  <a:latin typeface="Calibri"/>
              </a:rPr>
              <a:t>🥋  Profile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Belt level, name, avatar.
Personal journey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4480560"/>
            <a:ext cx="338328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46177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C4899"/>
                </a:solidFill>
                <a:latin typeface="Calibri"/>
              </a:rPr>
              <a:t>📱  Responsive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Desktop &amp; mobile browsers.
Train from anywhere.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4480560"/>
            <a:ext cx="338328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9" y="46177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  <a:latin typeface="Calibri"/>
              </a:rPr>
              <a:t>🔒  Privacy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Video stays in browser.
Only landmarks sent.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📄  Application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Key screens in the web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/>
              </a:rPr>
              <a:t>🏠 Landing Page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Animated hero section with tagline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Feature highlights with icons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Call-to-action: Register / Login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Dark theme glassmorphism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02920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🎯 Training Page (Core)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Live webcam + MediaPipe skeleton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Real-time move label + confidence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Correction panel with feedback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Joints highlighted in red if wrong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502920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634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📊 Dashboard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Line chart — score over sessions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Radar chart — accuracy per move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Session history with details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Quick-start new session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80560"/>
            <a:ext cx="502920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6634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855F7"/>
                </a:solidFill>
                <a:latin typeface="Calibri"/>
              </a:rPr>
              <a:t>👤 Profile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Editable name, email, belt level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Avatar / profile picture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Account info &amp; total sessions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F0F0F5"/>
                </a:solidFill>
                <a:latin typeface="Calibri"/>
              </a:rPr>
              <a:t>▸  Change password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🚀  Future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The architecture is designed to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/>
              </a:rPr>
              <a:t>🥊  More Martial Arts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Taekwondo, Judo, Boxing, Kung Fu — add new arts by expanding the move catalog and retraining.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11680"/>
            <a:ext cx="338328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219456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📹  YouTube Dataset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Extract poses from YouTube videos using MediaPipe to build a much larger training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9" y="2011680"/>
            <a:ext cx="338328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199" y="219456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855F7"/>
                </a:solidFill>
                <a:latin typeface="Calibri"/>
              </a:rPr>
              <a:t>🏆  Gamification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9999AA"/>
                </a:solidFill>
                <a:latin typeface="Calibri"/>
              </a:rPr>
              <a:t>Points, badges, leaderboards, and belt progression to motivate consistent practice.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9999AA"/>
                </a:solidFill>
                <a:latin typeface="Calibri"/>
              </a:rPr>
              <a:t>Current: </a:t>
            </a:r>
            <a:r>
              <a:rPr sz="1500" b="1">
                <a:solidFill>
                  <a:srgbClr val="00D4FF"/>
                </a:solidFill>
                <a:latin typeface="Calibri"/>
              </a:rPr>
              <a:t>4 Karate Moves</a:t>
            </a:r>
            <a:r>
              <a:rPr sz="1500">
                <a:solidFill>
                  <a:srgbClr val="9999AA"/>
                </a:solidFill>
                <a:latin typeface="Calibri"/>
              </a:rPr>
              <a:t>  →  Next: </a:t>
            </a:r>
            <a:r>
              <a:rPr sz="1500" b="1">
                <a:solidFill>
                  <a:srgbClr val="FF6B35"/>
                </a:solidFill>
                <a:latin typeface="Calibri"/>
              </a:rPr>
              <a:t>20+ Moves</a:t>
            </a:r>
            <a:r>
              <a:rPr sz="1500">
                <a:solidFill>
                  <a:srgbClr val="9999AA"/>
                </a:solidFill>
                <a:latin typeface="Calibri"/>
              </a:rPr>
              <a:t>  →  Goal: </a:t>
            </a:r>
            <a:r>
              <a:rPr sz="1500" b="1">
                <a:solidFill>
                  <a:srgbClr val="22C55E"/>
                </a:solidFill>
                <a:latin typeface="Calibri"/>
              </a:rPr>
              <a:t>Universal AI Martial Arts Coach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F0F5"/>
                </a:solidFill>
                <a:latin typeface="Calibri"/>
              </a:rPr>
              <a:t>📋  Technology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Complete tech stack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7548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99AA"/>
                </a:solidFill>
                <a:latin typeface="Consolas"/>
              </a:rPr>
              <a:t>  Layer                   Technology                  Why We Chose It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>
                <a:solidFill>
                  <a:srgbClr val="9999AA"/>
                </a:solidFill>
                <a:latin typeface="Consolas"/>
              </a:rPr>
              <a:t>  Frontend Framework      </a:t>
            </a:r>
            <a:r>
              <a:rPr sz="1200" b="1">
                <a:solidFill>
                  <a:srgbClr val="00D4FF"/>
                </a:solidFill>
                <a:latin typeface="Consolas"/>
              </a:rPr>
              <a:t>Next.js 14 + React          </a:t>
            </a:r>
            <a:r>
              <a:rPr sz="1200">
                <a:solidFill>
                  <a:srgbClr val="F0F0F5"/>
                </a:solidFill>
                <a:latin typeface="Consolas"/>
              </a:rPr>
              <a:t>SSR, routing, great DX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>
                <a:solidFill>
                  <a:srgbClr val="9999AA"/>
                </a:solidFill>
                <a:latin typeface="Consolas"/>
              </a:rPr>
              <a:t>  Pose Estimation         </a:t>
            </a:r>
            <a:r>
              <a:rPr sz="1200" b="1">
                <a:solidFill>
                  <a:srgbClr val="22C55E"/>
                </a:solidFill>
                <a:latin typeface="Consolas"/>
              </a:rPr>
              <a:t>MediaPipe Pose              </a:t>
            </a:r>
            <a:r>
              <a:rPr sz="1200">
                <a:solidFill>
                  <a:srgbClr val="F0F0F5"/>
                </a:solidFill>
                <a:latin typeface="Consolas"/>
              </a:rPr>
              <a:t>In-browser, real-time, 33 landmarks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>
                <a:solidFill>
                  <a:srgbClr val="9999AA"/>
                </a:solidFill>
                <a:latin typeface="Consolas"/>
              </a:rPr>
              <a:t>  Backend Framework       </a:t>
            </a:r>
            <a:r>
              <a:rPr sz="1200" b="1">
                <a:solidFill>
                  <a:srgbClr val="A855F7"/>
                </a:solidFill>
                <a:latin typeface="Consolas"/>
              </a:rPr>
              <a:t>FastAPI (Python)            </a:t>
            </a:r>
            <a:r>
              <a:rPr sz="1200">
                <a:solidFill>
                  <a:srgbClr val="F0F0F5"/>
                </a:solidFill>
                <a:latin typeface="Consolas"/>
              </a:rPr>
              <a:t>Async, fast, auto-docs, WebSocket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>
                <a:solidFill>
                  <a:srgbClr val="9999AA"/>
                </a:solidFill>
                <a:latin typeface="Consolas"/>
              </a:rPr>
              <a:t>  Database                </a:t>
            </a:r>
            <a:r>
              <a:rPr sz="1200" b="1">
                <a:solidFill>
                  <a:srgbClr val="FF6B35"/>
                </a:solidFill>
                <a:latin typeface="Consolas"/>
              </a:rPr>
              <a:t>PostgreSQL + SQLAlchemy     </a:t>
            </a:r>
            <a:r>
              <a:rPr sz="1200">
                <a:solidFill>
                  <a:srgbClr val="F0F0F5"/>
                </a:solidFill>
                <a:latin typeface="Consolas"/>
              </a:rPr>
              <a:t>Robust relational DB, ORM, migrations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>
                <a:solidFill>
                  <a:srgbClr val="9999AA"/>
                </a:solidFill>
                <a:latin typeface="Consolas"/>
              </a:rPr>
              <a:t>  Authentication          </a:t>
            </a:r>
            <a:r>
              <a:rPr sz="1200" b="1">
                <a:solidFill>
                  <a:srgbClr val="EC4899"/>
                </a:solidFill>
                <a:latin typeface="Consolas"/>
              </a:rPr>
              <a:t>JWT (python-jose)           </a:t>
            </a:r>
            <a:r>
              <a:rPr sz="1200">
                <a:solidFill>
                  <a:srgbClr val="F0F0F5"/>
                </a:solidFill>
                <a:latin typeface="Consolas"/>
              </a:rPr>
              <a:t>Stateless, scalable, industry standard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>
                <a:solidFill>
                  <a:srgbClr val="9999AA"/>
                </a:solidFill>
                <a:latin typeface="Consolas"/>
              </a:rPr>
              <a:t>  ML Model                </a:t>
            </a:r>
            <a:r>
              <a:rPr sz="1200" b="1">
                <a:solidFill>
                  <a:srgbClr val="00D4FF"/>
                </a:solidFill>
                <a:latin typeface="Consolas"/>
              </a:rPr>
              <a:t>LSTM (TensorFlow/Keras)     </a:t>
            </a:r>
            <a:r>
              <a:rPr sz="1200">
                <a:solidFill>
                  <a:srgbClr val="F0F0F5"/>
                </a:solidFill>
                <a:latin typeface="Consolas"/>
              </a:rPr>
              <a:t>Best for temporal sequence classification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>
                <a:solidFill>
                  <a:srgbClr val="9999AA"/>
                </a:solidFill>
                <a:latin typeface="Consolas"/>
              </a:rPr>
              <a:t>  Trial Model             </a:t>
            </a:r>
            <a:r>
              <a:rPr sz="1200" b="1">
                <a:solidFill>
                  <a:srgbClr val="22C55E"/>
                </a:solidFill>
                <a:latin typeface="Consolas"/>
              </a:rPr>
              <a:t>Random Forest (sklearn)     </a:t>
            </a:r>
            <a:r>
              <a:rPr sz="1200">
                <a:solidFill>
                  <a:srgbClr val="F0F0F5"/>
                </a:solidFill>
                <a:latin typeface="Consolas"/>
              </a:rPr>
              <a:t>Fast demo, validates full pipeline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>
                <a:solidFill>
                  <a:srgbClr val="9999AA"/>
                </a:solidFill>
                <a:latin typeface="Consolas"/>
              </a:rPr>
              <a:t>  Real-Time               </a:t>
            </a:r>
            <a:r>
              <a:rPr sz="1200" b="1">
                <a:solidFill>
                  <a:srgbClr val="A855F7"/>
                </a:solidFill>
                <a:latin typeface="Consolas"/>
              </a:rPr>
              <a:t>WebSocket                   </a:t>
            </a:r>
            <a:r>
              <a:rPr sz="1200">
                <a:solidFill>
                  <a:srgbClr val="F0F0F5"/>
                </a:solidFill>
                <a:latin typeface="Consolas"/>
              </a:rPr>
              <a:t>Low-latency bidirectional streaming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>
                <a:solidFill>
                  <a:srgbClr val="9999AA"/>
                </a:solidFill>
                <a:latin typeface="Consolas"/>
              </a:rPr>
              <a:t>  Visualization           </a:t>
            </a:r>
            <a:r>
              <a:rPr sz="1200" b="1">
                <a:solidFill>
                  <a:srgbClr val="FF6B35"/>
                </a:solidFill>
                <a:latin typeface="Consolas"/>
              </a:rPr>
              <a:t>Chart.js                    </a:t>
            </a:r>
            <a:r>
              <a:rPr sz="1200">
                <a:solidFill>
                  <a:srgbClr val="F0F0F5"/>
                </a:solidFill>
                <a:latin typeface="Consolas"/>
              </a:rPr>
              <a:t>Lightweight, responsive charts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>
                <a:solidFill>
                  <a:srgbClr val="9999AA"/>
                </a:solidFill>
                <a:latin typeface="Consolas"/>
              </a:rPr>
              <a:t>  Dataset                 </a:t>
            </a:r>
            <a:r>
              <a:rPr sz="1200" b="1">
                <a:solidFill>
                  <a:srgbClr val="EC4899"/>
                </a:solidFill>
                <a:latin typeface="Consolas"/>
              </a:rPr>
              <a:t>Kyokushin Karate            </a:t>
            </a:r>
            <a:r>
              <a:rPr sz="1200">
                <a:solidFill>
                  <a:srgbClr val="F0F0F5"/>
                </a:solidFill>
                <a:latin typeface="Consolas"/>
              </a:rPr>
              <a:t>37 athletes, 4 moves, MoCap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0" y="1645920"/>
            <a:ext cx="2560320" cy="457200"/>
          </a:xfrm>
          <a:prstGeom prst="roundRect">
            <a:avLst/>
          </a:prstGeom>
          <a:solidFill>
            <a:srgbClr val="0A201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166420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0F0F5"/>
                </a:solidFill>
                <a:latin typeface="Calibri"/>
              </a:rPr>
              <a:t>Questions &amp; </a:t>
            </a:r>
            <a:r>
              <a:rPr sz="4800" b="1">
                <a:solidFill>
                  <a:srgbClr val="22C55E"/>
                </a:solidFill>
                <a:latin typeface="Calibr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9999AA"/>
                </a:solidFill>
                <a:latin typeface="Calibri"/>
              </a:rPr>
              <a:t>Martial Arts AI Trainer
Turning every webcam into a karate coach.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303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999AA"/>
                </a:solidFill>
                <a:latin typeface="Calibri"/>
              </a:rPr>
              <a:t>🥋  4 Kyokushin Moves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303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999AA"/>
                </a:solidFill>
                <a:latin typeface="Calibri"/>
              </a:rPr>
              <a:t>🤖  Real-Time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03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999AA"/>
                </a:solidFill>
                <a:latin typeface="Calibri"/>
              </a:rPr>
              <a:t>🦴  MediaPipe + LSTM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